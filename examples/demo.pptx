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Hedef</c:v>
                </c:pt>
              </c:strCache>
            </c:strRef>
          </c:tx>
          <c:spPr>
            <a:solidFill>
              <a:srgbClr val="FF7A59"/>
            </a:solidFill>
          </c:spPr>
          <c:dPt>
            <c:idx val="0"/>
            <c:spPr>
              <a:solidFill>
                <a:srgbClr val="FF7A59"/>
              </a:solidFill>
            </c:spPr>
          </c:dPt>
          <c:dPt>
            <c:idx val="1"/>
            <c:spPr>
              <a:solidFill>
                <a:srgbClr val="3A4263"/>
              </a:solidFill>
            </c:spPr>
          </c:dPt>
          <c:cat>
            <c:strRef>
              <c:f>Sheet1!$A$2:$A$3</c:f>
              <c:strCache>
                <c:ptCount val="2"/>
                <c:pt idx="0">
                  <c:v>Hedefe ulaşan</c:v>
                </c:pt>
                <c:pt idx="1">
                  <c:v>Kalan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50">
          <a:solidFill>
            <a:srgbClr val="B4BACC"/>
          </a:solidFill>
          <a:latin typeface="Liberation Sans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4CC9F0"/>
            </a:solidFill>
          </c:spPr>
          <c:cat>
            <c:strRef>
              <c:f>Sheet1!$A$2:$A$5</c:f>
              <c:strCache>
                <c:ptCount val="4"/>
                <c:pt idx="0">
                  <c:v>Ç1</c:v>
                </c:pt>
                <c:pt idx="1">
                  <c:v>Ç2</c:v>
                </c:pt>
                <c:pt idx="2">
                  <c:v>Ç3</c:v>
                </c:pt>
                <c:pt idx="3">
                  <c:v>Ç4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2.4</c:v>
                </c:pt>
                <c:pt idx="2">
                  <c:v>2.2</c:v>
                </c:pt>
                <c:pt idx="3">
                  <c:v>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7A59"/>
            </a:solidFill>
          </c:spPr>
          <c:cat>
            <c:strRef>
              <c:f>Sheet1!$A$2:$A$5</c:f>
              <c:strCache>
                <c:ptCount val="4"/>
                <c:pt idx="0">
                  <c:v>Ç1</c:v>
                </c:pt>
                <c:pt idx="1">
                  <c:v>Ç2</c:v>
                </c:pt>
                <c:pt idx="2">
                  <c:v>Ç3</c:v>
                </c:pt>
                <c:pt idx="3">
                  <c:v>Ç4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</c:v>
                </c:pt>
                <c:pt idx="1">
                  <c:v>2.8</c:v>
                </c:pt>
                <c:pt idx="2">
                  <c:v>3.3</c:v>
                </c:pt>
                <c:pt idx="3">
                  <c:v>3.8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C33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050">
          <a:solidFill>
            <a:srgbClr val="B4BACC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Gerçekleşen</c:v>
                </c:pt>
              </c:strCache>
            </c:strRef>
          </c:tx>
          <c:spPr>
            <a:ln w="38100">
              <a:solidFill>
                <a:srgbClr val="FF7A59"/>
              </a:solidFill>
            </a:ln>
          </c:spPr>
          <c:cat>
            <c:strRef>
              <c:f>Sheet1!$A$2:$A$7</c:f>
              <c:strCache>
                <c:ptCount val="6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  <c:pt idx="3">
                  <c:v>Nis</c:v>
                </c:pt>
                <c:pt idx="4">
                  <c:v>May</c:v>
                </c:pt>
                <c:pt idx="5">
                  <c:v>Haz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70</c:v>
                </c:pt>
                <c:pt idx="2">
                  <c:v>68</c:v>
                </c:pt>
                <c:pt idx="3">
                  <c:v>81</c:v>
                </c:pt>
                <c:pt idx="4">
                  <c:v>88</c:v>
                </c:pt>
                <c:pt idx="5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Hedef</c:v>
                </c:pt>
              </c:strCache>
            </c:strRef>
          </c:tx>
          <c:spPr>
            <a:ln w="38100">
              <a:solidFill>
                <a:srgbClr val="8AE6B0"/>
              </a:solidFill>
            </a:ln>
          </c:spPr>
          <c:cat>
            <c:strRef>
              <c:f>Sheet1!$A$2:$A$7</c:f>
              <c:strCache>
                <c:ptCount val="6"/>
                <c:pt idx="0">
                  <c:v>Oca</c:v>
                </c:pt>
                <c:pt idx="1">
                  <c:v>Şub</c:v>
                </c:pt>
                <c:pt idx="2">
                  <c:v>Mar</c:v>
                </c:pt>
                <c:pt idx="3">
                  <c:v>Nis</c:v>
                </c:pt>
                <c:pt idx="4">
                  <c:v>May</c:v>
                </c:pt>
                <c:pt idx="5">
                  <c:v>Haz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68</c:v>
                </c:pt>
                <c:pt idx="2">
                  <c:v>72</c:v>
                </c:pt>
                <c:pt idx="3">
                  <c:v>76</c:v>
                </c:pt>
                <c:pt idx="4">
                  <c:v>80</c:v>
                </c:pt>
                <c:pt idx="5">
                  <c:v>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C33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B4BACC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Gün</c:v>
                </c:pt>
              </c:strCache>
            </c:strRef>
          </c:tx>
          <c:spPr>
            <a:solidFill>
              <a:srgbClr val="8AE6B0"/>
            </a:solidFill>
          </c:spPr>
          <c:cat>
            <c:strRef>
              <c:f>Sheet1!$A$2:$A$5</c:f>
              <c:strCache>
                <c:ptCount val="4"/>
                <c:pt idx="0">
                  <c:v>Aktivasyon</c:v>
                </c:pt>
                <c:pt idx="1">
                  <c:v>Teklif</c:v>
                </c:pt>
                <c:pt idx="2">
                  <c:v>Değerlendirme</c:v>
                </c:pt>
                <c:pt idx="3">
                  <c:v>Başvuru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C33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4263"/>
            </a:solidFill>
          </a:ln>
        </c:spPr>
        <c:txPr>
          <a:bodyPr/>
          <a:lstStyle/>
          <a:p>
            <a:pPr>
              <a:defRPr>
                <a:solidFill>
                  <a:srgbClr val="B4BAC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50">
          <a:solidFill>
            <a:srgbClr val="B4BACC"/>
          </a:solidFill>
          <a:latin typeface="Liberation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2133"/>
            </a:gs>
            <a:gs pos="100000">
              <a:srgbClr val="0F12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Başlık"/>
          <p:cNvSpPr txBox="1"/>
          <p:nvPr/>
        </p:nvSpPr>
        <p:spPr>
          <a:xfrm>
            <a:off x="609600" y="355600"/>
            <a:ext cx="8890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Liberation Sans"/>
              </a:rPr>
              <a:t>2026 Yıl Sonu Özeti</a:t>
            </a:r>
          </a:p>
        </p:txBody>
      </p:sp>
      <p:sp>
        <p:nvSpPr>
          <p:cNvPr id="3" name="Alt başlık"/>
          <p:cNvSpPr txBox="1"/>
          <p:nvPr/>
        </p:nvSpPr>
        <p:spPr>
          <a:xfrm>
            <a:off x="609600" y="889000"/>
            <a:ext cx="8890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Örnek A.Ş. · kurgusal veriler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651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 w="15875">
            <a:solidFill>
              <a:srgbClr val="3A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1905000"/>
            <a:ext cx="406400" cy="508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2095500"/>
            <a:ext cx="2159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50" b="1">
                <a:solidFill>
                  <a:srgbClr val="FF7A59"/>
                </a:solidFill>
                <a:latin typeface="Liberation Sans"/>
              </a:rPr>
              <a:t>₺12,4M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794000"/>
            <a:ext cx="2159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Toplam gelir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3600" y="1651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 w="15875">
            <a:solidFill>
              <a:srgbClr val="3A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6800" y="1905000"/>
            <a:ext cx="406400" cy="508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6800" y="2095500"/>
            <a:ext cx="2159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50" b="1">
                <a:solidFill>
                  <a:srgbClr val="FF7A59"/>
                </a:solidFill>
                <a:latin typeface="Liberation Sans"/>
              </a:rPr>
              <a:t>%38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800" y="2794000"/>
            <a:ext cx="2159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Büyüme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1651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 w="15875">
            <a:solidFill>
              <a:srgbClr val="3A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05000"/>
            <a:ext cx="406400" cy="50800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95500"/>
            <a:ext cx="2159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50" b="1">
                <a:solidFill>
                  <a:srgbClr val="FF7A59"/>
                </a:solidFill>
                <a:latin typeface="Liberation Sans"/>
              </a:rPr>
              <a:t>1.250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94000"/>
            <a:ext cx="2159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Yeni müşteri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2400" y="1651000"/>
            <a:ext cx="2540000" cy="3556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 w="15875">
            <a:solidFill>
              <a:srgbClr val="3A4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423400" y="1905000"/>
          <a:ext cx="1778000" cy="177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804400" y="2540000"/>
            <a:ext cx="1016000" cy="5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Liberation Sans"/>
              </a:rPr>
              <a:t>%72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1000" y="3810000"/>
            <a:ext cx="20955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B4BACC"/>
                </a:solidFill>
                <a:latin typeface="Liberation Sans"/>
              </a:rPr>
              <a:t>Hedeflerin %72'si yıl sonunda tamamlandı.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683000"/>
            <a:ext cx="7874000" cy="15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Liberation Sans"/>
              </a:rPr>
              <a:t>Gelirdeki artışın büyük kısmı ikinci yarıda geldi.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Liberation Sans"/>
              </a:rPr>
              <a:t>Yeni müşterilerin üçte biri kurumsal segmentte.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2133"/>
            </a:gs>
            <a:gs pos="100000">
              <a:srgbClr val="0F12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Başlık"/>
          <p:cNvSpPr txBox="1"/>
          <p:nvPr/>
        </p:nvSpPr>
        <p:spPr>
          <a:xfrm>
            <a:off x="609600" y="355600"/>
            <a:ext cx="8890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Liberation Sans"/>
              </a:rPr>
              <a:t>Çeyreklere göre gelir</a:t>
            </a:r>
          </a:p>
        </p:txBody>
      </p:sp>
      <p:sp>
        <p:nvSpPr>
          <p:cNvPr id="3" name="Alt başlık"/>
          <p:cNvSpPr txBox="1"/>
          <p:nvPr/>
        </p:nvSpPr>
        <p:spPr>
          <a:xfrm>
            <a:off x="609600" y="889000"/>
            <a:ext cx="8890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Milyon ₺, 2025 ve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397000"/>
          <a:ext cx="7112000" cy="482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91500" y="1651000"/>
            <a:ext cx="3390900" cy="4064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5500" y="1905000"/>
            <a:ext cx="2921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7A59"/>
                </a:solidFill>
                <a:latin typeface="Liberation Sans"/>
              </a:rPr>
              <a:t>+%31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5500" y="2603500"/>
            <a:ext cx="292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B4BACC"/>
                </a:solidFill>
                <a:latin typeface="Liberation Sans"/>
              </a:rPr>
              <a:t>Ç4 yıllık artış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5500" y="3175000"/>
            <a:ext cx="2921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FFFFFF"/>
                </a:solidFill>
                <a:latin typeface="Liberation Sans"/>
              </a:rPr>
              <a:t>• En güçlü çeyrek Ç4</a:t>
            </a:r>
          </a:p>
          <a:p>
            <a:pPr algn="l"/>
            <a:r>
              <a:rPr sz="1650" b="0">
                <a:solidFill>
                  <a:srgbClr val="FFFFFF"/>
                </a:solidFill>
                <a:latin typeface="Liberation Sans"/>
              </a:rPr>
              <a:t>• Ç3'te kampanya etkisi</a:t>
            </a:r>
          </a:p>
          <a:p>
            <a:pPr algn="l"/>
            <a:r>
              <a:rPr sz="1650" b="0">
                <a:solidFill>
                  <a:srgbClr val="FFFFFF"/>
                </a:solidFill>
                <a:latin typeface="Liberation Sans"/>
              </a:rPr>
              <a:t>• 2026 her çeyrekte 2025'in üzerinde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2133"/>
            </a:gs>
            <a:gs pos="100000">
              <a:srgbClr val="0F12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Başlık"/>
          <p:cNvSpPr txBox="1"/>
          <p:nvPr/>
        </p:nvSpPr>
        <p:spPr>
          <a:xfrm>
            <a:off x="609600" y="355600"/>
            <a:ext cx="8890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Liberation Sans"/>
              </a:rPr>
              <a:t>Bölge performansı</a:t>
            </a:r>
          </a:p>
        </p:txBody>
      </p:sp>
      <p:sp>
        <p:nvSpPr>
          <p:cNvPr id="3" name="Alt başlık"/>
          <p:cNvSpPr txBox="1"/>
          <p:nvPr/>
        </p:nvSpPr>
        <p:spPr>
          <a:xfrm>
            <a:off x="609600" y="889000"/>
            <a:ext cx="8890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Hedef ve gerçekleşen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524000"/>
          <a:ext cx="5461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/>
                <a:gridCol w="1365250"/>
                <a:gridCol w="1365250"/>
                <a:gridCol w="1365250"/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Bölge</a:t>
                      </a:r>
                    </a:p>
                  </a:txBody>
                  <a:tcPr>
                    <a:solidFill>
                      <a:srgbClr val="3A42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Hedef</a:t>
                      </a:r>
                    </a:p>
                  </a:txBody>
                  <a:tcPr>
                    <a:solidFill>
                      <a:srgbClr val="3A42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Gerçekleşen</a:t>
                      </a:r>
                    </a:p>
                  </a:txBody>
                  <a:tcPr>
                    <a:solidFill>
                      <a:srgbClr val="3A42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Oran</a:t>
                      </a:r>
                    </a:p>
                  </a:txBody>
                  <a:tcPr>
                    <a:solidFill>
                      <a:srgbClr val="3A4263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Marmara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4.200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4.650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%111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Ege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2.100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2.050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%98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İç Anadolu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1.800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1.920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%107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Akdeniz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1.500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1.610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%107</a:t>
                      </a:r>
                    </a:p>
                  </a:txBody>
                  <a:tcPr>
                    <a:solidFill>
                      <a:srgbClr val="1C2133"/>
                    </a:solidFill>
                  </a:tcPr>
                </a:tc>
              </a:tr>
              <a:tr h="55033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Karadeniz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900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870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50" b="0">
                          <a:solidFill>
                            <a:srgbClr val="FFFFFF"/>
                          </a:solidFill>
                          <a:latin typeface="Liberation Sans"/>
                        </a:rPr>
                        <a:t>%97</a:t>
                      </a:r>
                    </a:p>
                  </a:txBody>
                  <a:tcPr>
                    <a:solidFill>
                      <a:srgbClr val="262C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13500" y="1397000"/>
          <a:ext cx="5207000" cy="355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13500" y="5207000"/>
            <a:ext cx="5207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FFFFFF"/>
                </a:solidFill>
                <a:latin typeface="Liberation Sans"/>
              </a:rPr>
              <a:t>Haziran itibarıyla hedefin %13 üzerinde.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2133"/>
            </a:gs>
            <a:gs pos="100000">
              <a:srgbClr val="0F12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Başlık"/>
          <p:cNvSpPr txBox="1"/>
          <p:nvPr/>
        </p:nvSpPr>
        <p:spPr>
          <a:xfrm>
            <a:off x="609600" y="355600"/>
            <a:ext cx="8890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Liberation Sans"/>
              </a:rPr>
              <a:t>Yeni müşteri süreci</a:t>
            </a:r>
          </a:p>
        </p:txBody>
      </p:sp>
      <p:sp>
        <p:nvSpPr>
          <p:cNvPr id="3" name="Alt başlık"/>
          <p:cNvSpPr txBox="1"/>
          <p:nvPr/>
        </p:nvSpPr>
        <p:spPr>
          <a:xfrm>
            <a:off x="609600" y="889000"/>
            <a:ext cx="8890000" cy="317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4BACC"/>
                </a:solidFill>
                <a:latin typeface="Liberation Sans"/>
              </a:rPr>
              <a:t>Dört adım, ortalama 9 gün</a:t>
            </a:r>
          </a:p>
        </p:txBody>
      </p:sp>
      <p:grpSp>
        <p:nvGrpSpPr>
          <p:cNvPr id="4" name="Süreç grubu"/>
          <p:cNvGrpSpPr/>
          <p:nvPr/>
        </p:nvGrpSpPr>
        <p:grpSpPr>
          <a:xfrm>
            <a:off x="609600" y="1587500"/>
            <a:ext cx="10795000" cy="1143000"/>
            <a:chOff x="609600" y="1587500"/>
            <a:chExt cx="10795000" cy="1143000"/>
          </a:xfrm>
        </p:grpSpPr>
        <p:sp>
          <p:nvSpPr>
            <p:cNvPr id="5" name="Rounded Rectangle 4"/>
            <p:cNvSpPr/>
            <p:nvPr/>
          </p:nvSpPr>
          <p:spPr>
            <a:xfrm>
              <a:off x="609600" y="1587500"/>
              <a:ext cx="2413000" cy="1143000"/>
            </a:xfrm>
            <a:prstGeom prst="roundRect">
              <a:avLst/>
            </a:prstGeom>
            <a:solidFill>
              <a:srgbClr val="262C44"/>
            </a:solidFill>
            <a:ln>
              <a:solidFill>
                <a:srgbClr val="4CC9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400" b="1">
                  <a:solidFill>
                    <a:srgbClr val="FF7A59"/>
                  </a:solidFill>
                  <a:latin typeface="Liberation Sans"/>
                </a:rPr>
                <a:t>01</a:t>
              </a:r>
            </a:p>
            <a:p>
              <a:pPr algn="ctr"/>
              <a:r>
                <a:rPr sz="1650" b="1">
                  <a:solidFill>
                    <a:srgbClr val="FFFFFF"/>
                  </a:solidFill>
                  <a:latin typeface="Liberation Sans"/>
                </a:rPr>
                <a:t>Başvuru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073400" y="2032000"/>
              <a:ext cx="279400" cy="254000"/>
            </a:xfrm>
            <a:prstGeom prst="rightArrow">
              <a:avLst/>
            </a:prstGeom>
            <a:solidFill>
              <a:srgbClr val="FF7A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403600" y="1587500"/>
              <a:ext cx="2413000" cy="1143000"/>
            </a:xfrm>
            <a:prstGeom prst="roundRect">
              <a:avLst/>
            </a:prstGeom>
            <a:solidFill>
              <a:srgbClr val="262C44"/>
            </a:solidFill>
            <a:ln>
              <a:solidFill>
                <a:srgbClr val="4CC9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400" b="1">
                  <a:solidFill>
                    <a:srgbClr val="FF7A59"/>
                  </a:solidFill>
                  <a:latin typeface="Liberation Sans"/>
                </a:rPr>
                <a:t>02</a:t>
              </a:r>
            </a:p>
            <a:p>
              <a:pPr algn="ctr"/>
              <a:r>
                <a:rPr sz="1650" b="1">
                  <a:solidFill>
                    <a:srgbClr val="FFFFFF"/>
                  </a:solidFill>
                  <a:latin typeface="Liberation Sans"/>
                </a:rPr>
                <a:t>Değerlendirme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867400" y="2032000"/>
              <a:ext cx="279400" cy="254000"/>
            </a:xfrm>
            <a:prstGeom prst="rightArrow">
              <a:avLst/>
            </a:prstGeom>
            <a:solidFill>
              <a:srgbClr val="FF7A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97600" y="1587500"/>
              <a:ext cx="2413000" cy="1143000"/>
            </a:xfrm>
            <a:prstGeom prst="roundRect">
              <a:avLst/>
            </a:prstGeom>
            <a:solidFill>
              <a:srgbClr val="262C44"/>
            </a:solidFill>
            <a:ln>
              <a:solidFill>
                <a:srgbClr val="4CC9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400" b="1">
                  <a:solidFill>
                    <a:srgbClr val="FF7A59"/>
                  </a:solidFill>
                  <a:latin typeface="Liberation Sans"/>
                </a:rPr>
                <a:t>03</a:t>
              </a:r>
            </a:p>
            <a:p>
              <a:pPr algn="ctr"/>
              <a:r>
                <a:rPr sz="1650" b="1">
                  <a:solidFill>
                    <a:srgbClr val="FFFFFF"/>
                  </a:solidFill>
                  <a:latin typeface="Liberation Sans"/>
                </a:rPr>
                <a:t>Teklif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661400" y="2032000"/>
              <a:ext cx="279400" cy="254000"/>
            </a:xfrm>
            <a:prstGeom prst="rightArrow">
              <a:avLst/>
            </a:prstGeom>
            <a:solidFill>
              <a:srgbClr val="FF7A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991600" y="1587500"/>
              <a:ext cx="2413000" cy="1143000"/>
            </a:xfrm>
            <a:prstGeom prst="roundRect">
              <a:avLst/>
            </a:prstGeom>
            <a:solidFill>
              <a:srgbClr val="262C44"/>
            </a:solidFill>
            <a:ln>
              <a:solidFill>
                <a:srgbClr val="4CC9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2400" b="1">
                  <a:solidFill>
                    <a:srgbClr val="FF7A59"/>
                  </a:solidFill>
                  <a:latin typeface="Liberation Sans"/>
                </a:rPr>
                <a:t>04</a:t>
              </a:r>
            </a:p>
            <a:p>
              <a:pPr algn="ctr"/>
              <a:r>
                <a:rPr sz="1650" b="1">
                  <a:solidFill>
                    <a:srgbClr val="FFFFFF"/>
                  </a:solidFill>
                  <a:latin typeface="Liberation Sans"/>
                </a:rPr>
                <a:t>Aktivasyon</a:t>
              </a:r>
            </a:p>
          </p:txBody>
        </p:sp>
      </p:grp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9600" y="3175000"/>
          <a:ext cx="69850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191500" y="3302000"/>
            <a:ext cx="3390900" cy="2667000"/>
          </a:xfrm>
          <a:prstGeom prst="roundRect">
            <a:avLst>
              <a:gd name="adj" fmla="val 8000"/>
            </a:avLst>
          </a:prstGeom>
          <a:solidFill>
            <a:srgbClr val="2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5500" y="3556000"/>
            <a:ext cx="2921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7A59"/>
                </a:solidFill>
                <a:latin typeface="Liberation Sans"/>
              </a:rPr>
              <a:t>9 gün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5500" y="4381500"/>
            <a:ext cx="2921000" cy="12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FFFFFF"/>
                </a:solidFill>
                <a:latin typeface="Liberation Sans"/>
              </a:rPr>
              <a:t>Değerlendirme adımı sürenin yarısından fazlasını alıyor.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